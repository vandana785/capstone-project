
<file path=[Content_Types].xml><?xml version="1.0" encoding="utf-8"?>
<Types xmlns="http://schemas.openxmlformats.org/package/2006/content-types">
  <Default Extension="mp3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2" r:id="rId1"/>
  </p:sldMasterIdLst>
  <p:sldIdLst>
    <p:sldId id="256" r:id="rId2"/>
    <p:sldId id="272" r:id="rId3"/>
    <p:sldId id="273" r:id="rId4"/>
    <p:sldId id="274" r:id="rId5"/>
    <p:sldId id="257" r:id="rId6"/>
    <p:sldId id="258" r:id="rId7"/>
    <p:sldId id="259" r:id="rId8"/>
    <p:sldId id="260" r:id="rId9"/>
    <p:sldId id="261" r:id="rId10"/>
    <p:sldId id="263" r:id="rId11"/>
    <p:sldId id="265" r:id="rId12"/>
    <p:sldId id="267" r:id="rId13"/>
    <p:sldId id="268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-24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72085" y="3337560"/>
            <a:ext cx="8640064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77400" y="1544812"/>
            <a:ext cx="8640064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8140701" y="0"/>
            <a:ext cx="40513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83838"/>
            <a:ext cx="88392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485800"/>
            <a:ext cx="88392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1600201"/>
            <a:ext cx="48768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86400"/>
            <a:ext cx="5386917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5486400"/>
            <a:ext cx="5389033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516912"/>
            <a:ext cx="5386917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16912"/>
            <a:ext cx="5389033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9960864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5528"/>
            <a:ext cx="42672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214424"/>
            <a:ext cx="36576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94488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75264" y="6422065"/>
            <a:ext cx="1016000" cy="365125"/>
          </a:xfrm>
        </p:spPr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08976" y="1705709"/>
            <a:ext cx="4071824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20837" y="1019907"/>
            <a:ext cx="54864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08979" y="2998765"/>
            <a:ext cx="4071821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422065"/>
            <a:ext cx="2844800" cy="365125"/>
          </a:xfrm>
        </p:spPr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12192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9753600" y="0"/>
            <a:ext cx="24384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995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22065"/>
            <a:ext cx="28448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12/27/2021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165600" y="6422065"/>
            <a:ext cx="38608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871200" y="6422065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73" r:id="rId1"/>
    <p:sldLayoutId id="2147483974" r:id="rId2"/>
    <p:sldLayoutId id="2147483975" r:id="rId3"/>
    <p:sldLayoutId id="2147483976" r:id="rId4"/>
    <p:sldLayoutId id="2147483977" r:id="rId5"/>
    <p:sldLayoutId id="2147483978" r:id="rId6"/>
    <p:sldLayoutId id="2147483979" r:id="rId7"/>
    <p:sldLayoutId id="2147483980" r:id="rId8"/>
    <p:sldLayoutId id="2147483981" r:id="rId9"/>
    <p:sldLayoutId id="2147483982" r:id="rId10"/>
    <p:sldLayoutId id="214748398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audio" Target="../media/media5.mp3"/><Relationship Id="rId3" Type="http://schemas.microsoft.com/office/2007/relationships/media" Target="../media/media3.mp3"/><Relationship Id="rId7" Type="http://schemas.microsoft.com/office/2007/relationships/media" Target="../media/media5.mp3"/><Relationship Id="rId12" Type="http://schemas.openxmlformats.org/officeDocument/2006/relationships/image" Target="../media/image3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audio" Target="../media/media4.mp3"/><Relationship Id="rId11" Type="http://schemas.openxmlformats.org/officeDocument/2006/relationships/slideLayout" Target="../slideLayouts/slideLayout2.xml"/><Relationship Id="rId5" Type="http://schemas.microsoft.com/office/2007/relationships/media" Target="../media/media4.mp3"/><Relationship Id="rId10" Type="http://schemas.openxmlformats.org/officeDocument/2006/relationships/audio" Target="../media/media6.mp3"/><Relationship Id="rId4" Type="http://schemas.openxmlformats.org/officeDocument/2006/relationships/audio" Target="../media/media3.mp3"/><Relationship Id="rId9" Type="http://schemas.microsoft.com/office/2007/relationships/media" Target="../media/media6.mp3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audio" Target="../media/media10.mp3"/><Relationship Id="rId3" Type="http://schemas.microsoft.com/office/2007/relationships/media" Target="../media/media8.mp3"/><Relationship Id="rId7" Type="http://schemas.microsoft.com/office/2007/relationships/media" Target="../media/media10.mp3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audio" Target="../media/media9.mp3"/><Relationship Id="rId5" Type="http://schemas.microsoft.com/office/2007/relationships/media" Target="../media/media9.mp3"/><Relationship Id="rId10" Type="http://schemas.openxmlformats.org/officeDocument/2006/relationships/image" Target="../media/image3.png"/><Relationship Id="rId4" Type="http://schemas.openxmlformats.org/officeDocument/2006/relationships/audio" Target="../media/media8.mp3"/><Relationship Id="rId9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media" Target="../media/media13.mp3"/><Relationship Id="rId7" Type="http://schemas.openxmlformats.org/officeDocument/2006/relationships/slideLayout" Target="../slideLayouts/slideLayout9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audio" Target="../media/media14.mp3"/><Relationship Id="rId11" Type="http://schemas.openxmlformats.org/officeDocument/2006/relationships/image" Target="../media/image7.png"/><Relationship Id="rId5" Type="http://schemas.microsoft.com/office/2007/relationships/media" Target="../media/media14.mp3"/><Relationship Id="rId10" Type="http://schemas.openxmlformats.org/officeDocument/2006/relationships/image" Target="../media/image6.png"/><Relationship Id="rId4" Type="http://schemas.openxmlformats.org/officeDocument/2006/relationships/audio" Target="../media/media13.mp3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816236" cy="6858000"/>
          </a:xfrm>
          <a:prstGeom prst="rect">
            <a:avLst/>
          </a:prstGeom>
          <a:effectLst/>
        </p:spPr>
      </p:pic>
      <p:sp>
        <p:nvSpPr>
          <p:cNvPr id="2" name="slide1">
            <a:extLst>
              <a:ext uri="{FF2B5EF4-FFF2-40B4-BE49-F238E27FC236}">
                <a16:creationId xmlns="" xmlns:a16="http://schemas.microsoft.com/office/drawing/2014/main" id="{EE7FD4DC-6FC0-4AE1-8459-30A29CF20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57447"/>
            <a:ext cx="4816234" cy="2113425"/>
          </a:xfrm>
        </p:spPr>
        <p:txBody>
          <a:bodyPr>
            <a:normAutofit/>
          </a:bodyPr>
          <a:lstStyle/>
          <a:p>
            <a:pPr algn="ctr"/>
            <a:r>
              <a:rPr lang="en-IN" sz="5400" u="sng" dirty="0" smtClean="0">
                <a:solidFill>
                  <a:srgbClr val="00B0F0"/>
                </a:solidFill>
              </a:rPr>
              <a:t>Capstone Project </a:t>
            </a:r>
            <a:endParaRPr sz="5400" u="sng" dirty="0">
              <a:solidFill>
                <a:srgbClr val="00B0F0"/>
              </a:solidFill>
            </a:endParaRPr>
          </a:p>
        </p:txBody>
      </p:sp>
      <p:sp>
        <p:nvSpPr>
          <p:cNvPr id="3" name="slide1">
            <a:extLst>
              <a:ext uri="{FF2B5EF4-FFF2-40B4-BE49-F238E27FC236}">
                <a16:creationId xmlns="" xmlns:a16="http://schemas.microsoft.com/office/drawing/2014/main" id="{9061924F-B0E8-4CA3-9983-7B145ADD9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76451"/>
            <a:ext cx="4816235" cy="1762298"/>
          </a:xfrm>
        </p:spPr>
        <p:txBody>
          <a:bodyPr/>
          <a:lstStyle/>
          <a:p>
            <a:pPr algn="ctr"/>
            <a:r>
              <a:rPr lang="en-IN" sz="2800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Finance And Risk Analytics</a:t>
            </a:r>
          </a:p>
          <a:p>
            <a:pPr algn="ctr"/>
            <a:endParaRPr lang="en-IN" dirty="0" smtClean="0">
              <a:solidFill>
                <a:srgbClr val="00B0F0"/>
              </a:solidFill>
            </a:endParaRPr>
          </a:p>
          <a:p>
            <a:pPr algn="ctr"/>
            <a:r>
              <a:rPr lang="en-IN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Vandana Dixit</a:t>
            </a:r>
            <a:endParaRPr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235" y="-1"/>
            <a:ext cx="7375765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age 1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529691" y="4226377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0"/>
            <a:ext cx="11928020" cy="6735535"/>
          </a:xfrm>
        </p:spPr>
        <p:txBody>
          <a:bodyPr>
            <a:normAutofit lnSpcReduction="10000"/>
          </a:bodyPr>
          <a:lstStyle/>
          <a:p>
            <a:pPr marL="36576" indent="0" algn="ctr">
              <a:buNone/>
            </a:pPr>
            <a:endParaRPr lang="en-IN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6576" indent="0" algn="ctr">
              <a:buNone/>
            </a:pPr>
            <a:r>
              <a:rPr lang="en-IN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 Problem</a:t>
            </a:r>
          </a:p>
          <a:p>
            <a:pPr marL="36576" indent="0" algn="ctr">
              <a:buNone/>
            </a:pPr>
            <a:endParaRPr lang="en-IN" b="1" u="sng" dirty="0" smtClean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IN" dirty="0" smtClean="0">
              <a:solidFill>
                <a:srgbClr val="00B0F0"/>
              </a:solidFill>
            </a:endParaRPr>
          </a:p>
          <a:p>
            <a:pPr algn="just"/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Analyse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a portfolio of stocks to provide consultation on investment management based on client’s requirement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.</a:t>
            </a:r>
          </a:p>
          <a:p>
            <a:pPr algn="just"/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 Provide consultation to two different investors, Mr. Patrick Jyenger and Mr. Peter Jyenger based on their requirements and financial objectives.</a:t>
            </a:r>
          </a:p>
          <a:p>
            <a:pPr algn="just"/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Mr.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Peter Jayenger wants to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maintain a decent standard of living post retirement. He is 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conservative investor and he wants to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invest $500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k in equities with expectation doublings his capital with less risk in 5 yrs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.</a:t>
            </a:r>
          </a:p>
          <a:p>
            <a:pPr algn="just"/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Mr. Peter Jayenger wants to invest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$1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Million in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most high margin stocks.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He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is consistent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with his attitude towards risk and believes he can still bounce back in case of occasional losses.</a:t>
            </a:r>
            <a:endParaRPr lang="en-IN" sz="2800" dirty="0">
              <a:solidFill>
                <a:srgbClr val="00B0F0"/>
              </a:solidFill>
              <a:latin typeface="Arial Narrow" panose="020B0606020202030204" pitchFamily="34" charset="0"/>
            </a:endParaRPr>
          </a:p>
          <a:p>
            <a:endParaRPr lang="en-US" sz="2400" dirty="0"/>
          </a:p>
          <a:p>
            <a:endParaRPr lang="en-US" sz="2400" dirty="0" smtClean="0"/>
          </a:p>
          <a:p>
            <a:pPr marL="36576" indent="0">
              <a:buNone/>
            </a:pPr>
            <a:endParaRPr lang="en-US" sz="2400" dirty="0"/>
          </a:p>
          <a:p>
            <a:endParaRPr lang="en-US" dirty="0" smtClean="0"/>
          </a:p>
        </p:txBody>
      </p:sp>
      <p:pic>
        <p:nvPicPr>
          <p:cNvPr id="5" name="page 2-1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7742465" y="936171"/>
            <a:ext cx="36000" cy="36000"/>
          </a:xfrm>
          <a:prstGeom prst="rect">
            <a:avLst/>
          </a:prstGeom>
        </p:spPr>
      </p:pic>
      <p:pic>
        <p:nvPicPr>
          <p:cNvPr id="6" name="page 2-a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2"/>
          <a:stretch>
            <a:fillRect/>
          </a:stretch>
        </p:blipFill>
        <p:spPr>
          <a:xfrm flipV="1">
            <a:off x="3513363" y="2479216"/>
            <a:ext cx="0" cy="0"/>
          </a:xfrm>
          <a:prstGeom prst="rect">
            <a:avLst/>
          </a:prstGeom>
        </p:spPr>
      </p:pic>
      <p:pic>
        <p:nvPicPr>
          <p:cNvPr id="7" name="page 2-b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532000" y="3492000"/>
            <a:ext cx="0" cy="0"/>
          </a:xfrm>
          <a:prstGeom prst="rect">
            <a:avLst/>
          </a:prstGeom>
        </p:spPr>
      </p:pic>
      <p:pic>
        <p:nvPicPr>
          <p:cNvPr id="8" name="page 2-C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5970815" y="4691743"/>
            <a:ext cx="0" cy="0"/>
          </a:xfrm>
          <a:prstGeom prst="rect">
            <a:avLst/>
          </a:prstGeom>
        </p:spPr>
      </p:pic>
      <p:pic>
        <p:nvPicPr>
          <p:cNvPr id="9" name="page 2-d.mp3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2916000" y="60120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6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0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676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9144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5288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272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Expectations:-</a:t>
            </a:r>
            <a:endParaRPr lang="en-IN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As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a Portfolio Manager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we have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to suggest portfolio for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Mr.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Patrick Jyenger and 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Mr.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Peter Jyenger for next five years keeping their motive of investment and nature of risk taking in mind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.</a:t>
            </a:r>
          </a:p>
          <a:p>
            <a:pPr marL="36576" indent="0">
              <a:buNone/>
            </a:pPr>
            <a:endParaRPr lang="en-US" sz="2800" dirty="0" smtClean="0">
              <a:solidFill>
                <a:srgbClr val="00B0F0"/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For that Stock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dataset over 10yrs:- from 1 Oct 2010 to 30 sept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2020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 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of  </a:t>
            </a:r>
            <a:r>
              <a:rPr lang="en-US" sz="2800" dirty="0">
                <a:solidFill>
                  <a:srgbClr val="00B0F0"/>
                </a:solidFill>
                <a:latin typeface="Arial Narrow" panose="020B0606020202030204" pitchFamily="34" charset="0"/>
              </a:rPr>
              <a:t>24 Stock of leading companies listed in NYSE</a:t>
            </a:r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.</a:t>
            </a:r>
          </a:p>
          <a:p>
            <a:pPr marL="36576" indent="0">
              <a:buNone/>
            </a:pPr>
            <a:endParaRPr lang="en-US" sz="2800" dirty="0">
              <a:solidFill>
                <a:srgbClr val="00B0F0"/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8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You are expected to use technical analysis and required metric and active investment strategy to generate validate portfolio.</a:t>
            </a:r>
            <a:endParaRPr lang="en-IN" sz="2800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page 3-a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7611835" y="634093"/>
            <a:ext cx="0" cy="0"/>
          </a:xfrm>
          <a:prstGeom prst="rect">
            <a:avLst/>
          </a:prstGeom>
        </p:spPr>
      </p:pic>
      <p:pic>
        <p:nvPicPr>
          <p:cNvPr id="5" name="page 3-b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791200" y="3124200"/>
            <a:ext cx="0" cy="0"/>
          </a:xfrm>
          <a:prstGeom prst="rect">
            <a:avLst/>
          </a:prstGeom>
        </p:spPr>
      </p:pic>
      <p:pic>
        <p:nvPicPr>
          <p:cNvPr id="6" name="page 3-c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305800" y="4193722"/>
            <a:ext cx="0" cy="0"/>
          </a:xfrm>
          <a:prstGeom prst="rect">
            <a:avLst/>
          </a:prstGeom>
        </p:spPr>
      </p:pic>
      <p:pic>
        <p:nvPicPr>
          <p:cNvPr id="7" name="page 3-d.mp3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738507" y="5597978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08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7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952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audio>
              <p:cMediaNode vol="80000">
                <p:cTn id="2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992" y="116379"/>
            <a:ext cx="3090703" cy="6741622"/>
          </a:xfrm>
        </p:spPr>
        <p:txBody>
          <a:bodyPr>
            <a:normAutofit/>
          </a:bodyPr>
          <a:lstStyle/>
          <a:p>
            <a:pPr algn="just"/>
            <a:r>
              <a:rPr lang="en-IN" sz="2400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In Pandemic All Stocks Fall Down Except “AMZN Stock” And “GOOG Stock” Of Technology</a:t>
            </a:r>
            <a:endParaRPr lang="en-IN" sz="24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8031" y="-166255"/>
            <a:ext cx="8850086" cy="7591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age 4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37767" y="3888971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46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68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7473142" y="1737360"/>
            <a:ext cx="4430683" cy="1005840"/>
          </a:xfrm>
        </p:spPr>
        <p:txBody>
          <a:bodyPr>
            <a:normAutofit/>
          </a:bodyPr>
          <a:lstStyle/>
          <a:p>
            <a:pPr algn="ctr"/>
            <a:r>
              <a:rPr lang="en-IN" sz="4000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Aviation</a:t>
            </a:r>
            <a:r>
              <a:rPr lang="en-IN" sz="4000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 Stocks</a:t>
            </a:r>
            <a:endParaRPr lang="en-IN" sz="4000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2"/>
          </p:nvPr>
        </p:nvSpPr>
        <p:spPr>
          <a:xfrm>
            <a:off x="7406640" y="3474720"/>
            <a:ext cx="4596938" cy="2950573"/>
          </a:xfrm>
        </p:spPr>
        <p:txBody>
          <a:bodyPr>
            <a:noAutofit/>
          </a:bodyPr>
          <a:lstStyle/>
          <a:p>
            <a:r>
              <a:rPr lang="en-IN" sz="20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Comparison Of All Stocks Of Aviation.</a:t>
            </a:r>
          </a:p>
          <a:p>
            <a:endParaRPr lang="en-IN" sz="2000" dirty="0" smtClean="0">
              <a:solidFill>
                <a:srgbClr val="00B0F0"/>
              </a:solidFill>
              <a:latin typeface="Arial Narrow" panose="020B0606020202030204" pitchFamily="34" charset="0"/>
            </a:endParaRPr>
          </a:p>
          <a:p>
            <a:pPr algn="just"/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We Have Seen Positive Change In "ALGT Stock"</a:t>
            </a:r>
          </a:p>
          <a:p>
            <a:pPr algn="just"/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In Pandemic We Seen Fall In Other Stocks</a:t>
            </a:r>
          </a:p>
          <a:p>
            <a:pPr algn="just"/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We Have Seen Fall In "ALK Stock" Also But It's Not Fall As Much In Comparison Of Other Stocks.</a:t>
            </a:r>
          </a:p>
          <a:p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7942" y="-83127"/>
            <a:ext cx="7477612" cy="711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age 5-a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391900" y="2119993"/>
            <a:ext cx="0" cy="0"/>
          </a:xfrm>
          <a:prstGeom prst="rect">
            <a:avLst/>
          </a:prstGeom>
        </p:spPr>
      </p:pic>
      <p:pic>
        <p:nvPicPr>
          <p:cNvPr id="4" name="page 5-b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0911840" y="3348643"/>
            <a:ext cx="0" cy="0"/>
          </a:xfrm>
          <a:prstGeom prst="rect">
            <a:avLst/>
          </a:prstGeom>
        </p:spPr>
      </p:pic>
      <p:pic>
        <p:nvPicPr>
          <p:cNvPr id="6" name="page 5-C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087100" y="4379422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3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422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38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9614" y="-187779"/>
            <a:ext cx="8343900" cy="718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8823" y="2204801"/>
            <a:ext cx="4016828" cy="4318907"/>
          </a:xfrm>
        </p:spPr>
        <p:txBody>
          <a:bodyPr>
            <a:normAutofit/>
          </a:bodyPr>
          <a:lstStyle/>
          <a:p>
            <a:r>
              <a:rPr lang="en-IN" sz="2000" dirty="0" smtClean="0">
                <a:latin typeface="Arial Narrow" panose="020B0606020202030204" pitchFamily="34" charset="0"/>
              </a:rPr>
              <a:t/>
            </a:r>
            <a:br>
              <a:rPr lang="en-IN" sz="2000" dirty="0" smtClean="0">
                <a:latin typeface="Arial Narrow" panose="020B0606020202030204" pitchFamily="34" charset="0"/>
              </a:rPr>
            </a:br>
            <a:r>
              <a:rPr lang="en-IN" sz="2000" b="0" dirty="0">
                <a:solidFill>
                  <a:srgbClr val="00B0F0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  <a:t>Comparison of All Stock of Finance.</a:t>
            </a:r>
            <a:br>
              <a:rPr lang="en-IN" sz="2000" b="0" dirty="0">
                <a:solidFill>
                  <a:srgbClr val="00B0F0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</a:br>
            <a:r>
              <a:rPr lang="en-IN" sz="2000" b="0" dirty="0">
                <a:solidFill>
                  <a:srgbClr val="00B0F0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  <a:t/>
            </a:r>
            <a:br>
              <a:rPr lang="en-IN" sz="2000" b="0" dirty="0">
                <a:solidFill>
                  <a:srgbClr val="00B0F0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</a:br>
            <a:r>
              <a:rPr lang="en-US" sz="2000" b="0" dirty="0">
                <a:solidFill>
                  <a:srgbClr val="00B0F0"/>
                </a:solidFill>
                <a:effectLst/>
                <a:latin typeface="Arial Narrow" panose="020B0606020202030204" pitchFamily="34" charset="0"/>
                <a:ea typeface="+mn-ea"/>
                <a:cs typeface="+mn-cs"/>
              </a:rPr>
              <a:t>In Pandemic time every Stock fall down, but 'MS Stock' and 'WFC Stock' still manage to remain Positive.</a:t>
            </a:r>
            <a:r>
              <a:rPr lang="en-I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/>
            </a:r>
            <a:br>
              <a:rPr lang="en-IN" sz="2400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</a:br>
            <a:endParaRPr lang="en-IN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164286" y="596438"/>
            <a:ext cx="3780065" cy="1152188"/>
          </a:xfrm>
        </p:spPr>
        <p:txBody>
          <a:bodyPr>
            <a:normAutofit/>
          </a:bodyPr>
          <a:lstStyle/>
          <a:p>
            <a:pPr algn="ctr"/>
            <a:r>
              <a:rPr lang="en-IN" sz="4000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Finance Stocks</a:t>
            </a:r>
            <a:endParaRPr lang="en-IN" sz="40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pic>
        <p:nvPicPr>
          <p:cNvPr id="3" name="page 6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22379" y="1801586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9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Healthcare_Stock">
            <a:extLst>
              <a:ext uri="{FF2B5EF4-FFF2-40B4-BE49-F238E27FC236}">
                <a16:creationId xmlns="" xmlns:a16="http://schemas.microsoft.com/office/drawing/2014/main" id="{64F80432-0F5E-4A17-A74A-B7CAAF9D560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284" t="1805" r="5039" b="1926"/>
          <a:stretch/>
        </p:blipFill>
        <p:spPr>
          <a:xfrm>
            <a:off x="-73478" y="-1"/>
            <a:ext cx="7952013" cy="6768193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878534" y="2310210"/>
            <a:ext cx="4313465" cy="4457982"/>
          </a:xfrm>
        </p:spPr>
        <p:txBody>
          <a:bodyPr>
            <a:normAutofit/>
          </a:bodyPr>
          <a:lstStyle/>
          <a:p>
            <a:r>
              <a:rPr lang="en-IN" sz="2000" b="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Comparison of all Stocks of Healthcare.</a:t>
            </a:r>
            <a:br>
              <a:rPr lang="en-IN" sz="2000" b="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</a:br>
            <a:r>
              <a:rPr lang="en-IN" sz="2000" b="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/>
            </a:r>
            <a:br>
              <a:rPr lang="en-IN" sz="2000" b="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</a:br>
            <a:r>
              <a:rPr lang="en-US" sz="20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In pandemic </a:t>
            </a:r>
            <a:r>
              <a:rPr lang="en-US" sz="200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n-US" sz="20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Healthcare sector not much effected in </a:t>
            </a:r>
            <a:r>
              <a:rPr lang="en-US" sz="200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comparison </a:t>
            </a:r>
            <a:r>
              <a:rPr lang="en-US" sz="20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to other sector. we have seen positive </a:t>
            </a:r>
            <a:r>
              <a:rPr lang="en-US" sz="200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change.</a:t>
            </a:r>
            <a:r>
              <a:rPr lang="en-US" sz="24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/>
            </a:r>
            <a:br>
              <a:rPr lang="en-US" sz="24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</a:br>
            <a:endParaRPr lang="en-IN" sz="2400" b="0" dirty="0">
              <a:solidFill>
                <a:srgbClr val="00B0F0"/>
              </a:solidFill>
              <a:effectLst/>
              <a:latin typeface="Arial Narrow" panose="020B0606020202030204" pitchFamily="34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878535" y="599850"/>
            <a:ext cx="4313465" cy="1066688"/>
          </a:xfrm>
        </p:spPr>
        <p:txBody>
          <a:bodyPr>
            <a:normAutofit/>
          </a:bodyPr>
          <a:lstStyle/>
          <a:p>
            <a:pPr algn="ctr"/>
            <a:r>
              <a:rPr lang="en-IN" sz="4000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Healthcare Stocks</a:t>
            </a:r>
            <a:endParaRPr lang="en-IN" sz="40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pic>
        <p:nvPicPr>
          <p:cNvPr id="2" name="page 7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04122" y="2103664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0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Pharmaceuticals_Stock">
            <a:extLst>
              <a:ext uri="{FF2B5EF4-FFF2-40B4-BE49-F238E27FC236}">
                <a16:creationId xmlns="" xmlns:a16="http://schemas.microsoft.com/office/drawing/2014/main" id="{A5D6735A-B619-4EC5-86F4-A08F9ABFC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09897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98972" y="2784022"/>
            <a:ext cx="4093028" cy="2626180"/>
          </a:xfrm>
        </p:spPr>
        <p:txBody>
          <a:bodyPr>
            <a:normAutofit fontScale="90000"/>
          </a:bodyPr>
          <a:lstStyle/>
          <a:p>
            <a:r>
              <a:rPr lang="en-IN" sz="24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Comparison of Pharmaceutical Stocks.</a:t>
            </a:r>
            <a:br>
              <a:rPr lang="en-IN" sz="24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</a:br>
            <a:r>
              <a:rPr lang="en-IN" sz="2400" i="1" dirty="0">
                <a:solidFill>
                  <a:srgbClr val="00B0F0"/>
                </a:solidFill>
                <a:latin typeface="Arial Narrow" panose="020B0606020202030204" pitchFamily="34" charset="0"/>
              </a:rPr>
              <a:t/>
            </a:r>
            <a:br>
              <a:rPr lang="en-IN" sz="2400" i="1" dirty="0">
                <a:solidFill>
                  <a:srgbClr val="00B0F0"/>
                </a:solidFill>
                <a:latin typeface="Arial Narrow" panose="020B0606020202030204" pitchFamily="34" charset="0"/>
              </a:rPr>
            </a:br>
            <a:r>
              <a:rPr lang="en-US" sz="24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In </a:t>
            </a:r>
            <a:r>
              <a:rPr lang="en-US" sz="2200" b="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Pandemic</a:t>
            </a:r>
            <a:r>
              <a:rPr lang="en-US" sz="24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n-US" sz="240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 </a:t>
            </a:r>
            <a:r>
              <a:rPr lang="en-US" sz="24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huge down fall in "BHC </a:t>
            </a:r>
            <a:r>
              <a:rPr lang="en-US" sz="240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Stock", but </a:t>
            </a:r>
            <a:r>
              <a:rPr lang="en-US" sz="240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on the other hand we have seen positive change in "RHHBY Stock</a:t>
            </a:r>
            <a:r>
              <a:rPr lang="en-US" sz="240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".</a:t>
            </a:r>
            <a:r>
              <a:rPr lang="en-US" sz="2400" i="1" dirty="0">
                <a:effectLst/>
              </a:rPr>
              <a:t/>
            </a:r>
            <a:br>
              <a:rPr lang="en-US" sz="2400" i="1" dirty="0">
                <a:effectLst/>
              </a:rPr>
            </a:br>
            <a:endParaRPr lang="en-IN" sz="2400" dirty="0">
              <a:latin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8972" y="1089707"/>
            <a:ext cx="4093028" cy="1066688"/>
          </a:xfrm>
        </p:spPr>
        <p:txBody>
          <a:bodyPr>
            <a:noAutofit/>
          </a:bodyPr>
          <a:lstStyle/>
          <a:p>
            <a:r>
              <a:rPr lang="en-IN" sz="3200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Pharmaceuticals Stocks</a:t>
            </a:r>
            <a:endParaRPr lang="en-IN" sz="32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pic>
        <p:nvPicPr>
          <p:cNvPr id="4" name="page 8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71365" y="523875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47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Technology _stock">
            <a:extLst>
              <a:ext uri="{FF2B5EF4-FFF2-40B4-BE49-F238E27FC236}">
                <a16:creationId xmlns="" xmlns:a16="http://schemas.microsoft.com/office/drawing/2014/main" id="{13612251-DC81-4DE8-B795-B64B8FE31B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752747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7472" y="2294164"/>
            <a:ext cx="4664528" cy="4253593"/>
          </a:xfrm>
        </p:spPr>
        <p:txBody>
          <a:bodyPr>
            <a:normAutofit/>
          </a:bodyPr>
          <a:lstStyle/>
          <a:p>
            <a:r>
              <a:rPr lang="en-IN" sz="2400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/>
            </a:r>
            <a:br>
              <a:rPr lang="en-IN" sz="2400" dirty="0" smtClean="0">
                <a:solidFill>
                  <a:srgbClr val="00B0F0"/>
                </a:solidFill>
                <a:latin typeface="Arial Narrow" panose="020B0606020202030204" pitchFamily="34" charset="0"/>
              </a:rPr>
            </a:br>
            <a: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Comparison of all Stock of Technology.</a:t>
            </a:r>
            <a:r>
              <a:rPr lang="en-IN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/>
            </a:r>
            <a:br>
              <a:rPr lang="en-IN" sz="2000" i="1" dirty="0">
                <a:solidFill>
                  <a:srgbClr val="00B0F0"/>
                </a:solidFill>
                <a:latin typeface="Arial Narrow" panose="020B0606020202030204" pitchFamily="34" charset="0"/>
              </a:rPr>
            </a:br>
            <a: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/>
            </a:r>
            <a:b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</a:br>
            <a:r>
              <a:rPr lang="en-US" sz="2000" b="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In Pandemic situation "GOOG_Stock" and "</a:t>
            </a:r>
            <a:r>
              <a:rPr lang="en-US" sz="2000" b="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AMZN_Stock</a:t>
            </a:r>
            <a:r>
              <a:rPr lang="en-US" sz="2000" b="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" are showing positive change, but rest of all stock showing constant.</a:t>
            </a:r>
            <a:endParaRPr lang="en-IN" sz="2000" i="1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27472" y="1024393"/>
            <a:ext cx="4664527" cy="1066688"/>
          </a:xfrm>
        </p:spPr>
        <p:txBody>
          <a:bodyPr>
            <a:normAutofit/>
          </a:bodyPr>
          <a:lstStyle/>
          <a:p>
            <a:r>
              <a:rPr lang="en-IN" sz="4000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Technology Stocks</a:t>
            </a:r>
            <a:endParaRPr lang="en-IN" sz="40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pic>
        <p:nvPicPr>
          <p:cNvPr id="4" name="page 9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38707" y="2936422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9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ALL_Stocks">
            <a:extLst>
              <a:ext uri="{FF2B5EF4-FFF2-40B4-BE49-F238E27FC236}">
                <a16:creationId xmlns="" xmlns:a16="http://schemas.microsoft.com/office/drawing/2014/main" id="{F36559FC-25DF-43E5-A14B-494E04476F9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92"/>
          <a:stretch/>
        </p:blipFill>
        <p:spPr>
          <a:xfrm>
            <a:off x="0" y="0"/>
            <a:ext cx="7388679" cy="67600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8677" y="2718707"/>
            <a:ext cx="4710793" cy="3837213"/>
          </a:xfrm>
        </p:spPr>
        <p:txBody>
          <a:bodyPr>
            <a:normAutofit/>
          </a:bodyPr>
          <a:lstStyle/>
          <a:p>
            <a: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Comparison of All stocks of Industries.</a:t>
            </a:r>
            <a:b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</a:br>
            <a: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/>
            </a:r>
            <a:b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</a:br>
            <a: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P</a:t>
            </a:r>
            <a:r>
              <a:rPr lang="en-US" sz="2000" b="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ositive </a:t>
            </a:r>
            <a:r>
              <a:rPr lang="en-US" sz="2000" b="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growth in Technology Sector </a:t>
            </a:r>
            <a:r>
              <a:rPr lang="en-US" sz="2000" b="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. In pandemic fall </a:t>
            </a:r>
            <a:r>
              <a:rPr lang="en-US" sz="2000" b="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in every </a:t>
            </a:r>
            <a:r>
              <a:rPr lang="en-US" sz="2000" b="0" i="1" dirty="0" smtClean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stocks. except </a:t>
            </a:r>
            <a:r>
              <a:rPr lang="en-US" sz="2000" b="0" i="1" dirty="0">
                <a:solidFill>
                  <a:srgbClr val="00B0F0"/>
                </a:solidFill>
                <a:effectLst/>
                <a:latin typeface="Arial Narrow" panose="020B0606020202030204" pitchFamily="34" charset="0"/>
              </a:rPr>
              <a:t>"GOOGLE" and "Amazon" .</a:t>
            </a:r>
            <a:r>
              <a:rPr lang="en-US" sz="2000" b="0" i="1" dirty="0">
                <a:effectLst/>
                <a:latin typeface="Arial Narrow" panose="020B0606020202030204" pitchFamily="34" charset="0"/>
              </a:rPr>
              <a:t/>
            </a:r>
            <a:br>
              <a:rPr lang="en-US" sz="2000" b="0" i="1" dirty="0">
                <a:effectLst/>
                <a:latin typeface="Arial Narrow" panose="020B0606020202030204" pitchFamily="34" charset="0"/>
              </a:rPr>
            </a:br>
            <a:r>
              <a:rPr lang="en-US" sz="2000" b="0" i="1" dirty="0">
                <a:effectLst/>
                <a:latin typeface="Arial Narrow" panose="020B0606020202030204" pitchFamily="34" charset="0"/>
              </a:rPr>
              <a:t>​</a:t>
            </a:r>
            <a:r>
              <a:rPr lang="en-US" sz="2400" b="0" dirty="0">
                <a:effectLst/>
              </a:rPr>
              <a:t/>
            </a:r>
            <a:br>
              <a:rPr lang="en-US" sz="2400" b="0" dirty="0">
                <a:effectLst/>
              </a:rPr>
            </a:br>
            <a:endParaRPr lang="en-IN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88678" y="1416279"/>
            <a:ext cx="4906737" cy="1066688"/>
          </a:xfrm>
        </p:spPr>
        <p:txBody>
          <a:bodyPr>
            <a:normAutofit/>
          </a:bodyPr>
          <a:lstStyle/>
          <a:p>
            <a:r>
              <a:rPr lang="en-IN" sz="3200" b="1" u="sng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Industries Group Stocks</a:t>
            </a:r>
            <a:endParaRPr lang="en-IN" sz="3200" b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age 10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95857" y="2217964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8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Final_Stock">
            <a:extLst>
              <a:ext uri="{FF2B5EF4-FFF2-40B4-BE49-F238E27FC236}">
                <a16:creationId xmlns="" xmlns:a16="http://schemas.microsoft.com/office/drawing/2014/main" id="{A1CFBCAC-A5C9-43A8-90A7-A7BE6E9C1F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89725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2551" y="432708"/>
            <a:ext cx="3155718" cy="6147706"/>
          </a:xfrm>
        </p:spPr>
        <p:txBody>
          <a:bodyPr>
            <a:normAutofit/>
          </a:bodyPr>
          <a:lstStyle/>
          <a:p>
            <a:pPr algn="just"/>
            <a:r>
              <a:rPr lang="en-IN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After Analysis, stocks  which are showing Positive Annualized Returns.</a:t>
            </a:r>
            <a:endParaRPr lang="en-IN" sz="2000" i="1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age 11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269436" y="3692979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9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Patrick Jyenger_Stock">
            <a:extLst>
              <a:ext uri="{FF2B5EF4-FFF2-40B4-BE49-F238E27FC236}">
                <a16:creationId xmlns="" xmlns:a16="http://schemas.microsoft.com/office/drawing/2014/main" id="{495308A3-5626-4EFE-8490-1B8795695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72"/>
            <a:ext cx="8115300" cy="67786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2450" y="39672"/>
            <a:ext cx="3918857" cy="6778656"/>
          </a:xfrm>
        </p:spPr>
        <p:txBody>
          <a:bodyPr>
            <a:normAutofit/>
          </a:bodyPr>
          <a:lstStyle/>
          <a:p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Mr.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Patrick wants to Double his 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money 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with Minimum Risk. So, we 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choosed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"JNJ_Stock" and "MRK_stock" 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, "GOOG_Stock"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and "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UNH_Stock”.</a:t>
            </a:r>
            <a:endParaRPr lang="en-IN" sz="2000" i="1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pic>
        <p:nvPicPr>
          <p:cNvPr id="4" name="page 12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49543" y="3834493"/>
            <a:ext cx="36000" cy="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peterJyenger_stock">
            <a:extLst>
              <a:ext uri="{FF2B5EF4-FFF2-40B4-BE49-F238E27FC236}">
                <a16:creationId xmlns="" xmlns:a16="http://schemas.microsoft.com/office/drawing/2014/main" id="{F3F8D9B5-A677-4316-B2EE-452AD27490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1724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72450" y="0"/>
            <a:ext cx="4019550" cy="6735535"/>
          </a:xfrm>
        </p:spPr>
        <p:txBody>
          <a:bodyPr>
            <a:normAutofit/>
          </a:bodyPr>
          <a:lstStyle/>
          <a:p>
            <a:pPr algn="just"/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Mr.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Peter wants Maximum Return on his 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Money and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willing to take risk 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,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so we 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 chooses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"AMZN_Stocks" and "MFST_Stock" for </a:t>
            </a:r>
            <a:r>
              <a:rPr lang="en-US" sz="2000" i="1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Mr. </a:t>
            </a:r>
            <a:r>
              <a:rPr lang="en-US" sz="2000" i="1" dirty="0">
                <a:solidFill>
                  <a:srgbClr val="00B0F0"/>
                </a:solidFill>
                <a:latin typeface="Arial Narrow" panose="020B0606020202030204" pitchFamily="34" charset="0"/>
              </a:rPr>
              <a:t>Peter Jyenger. </a:t>
            </a:r>
            <a:endParaRPr lang="en-IN" sz="2000" i="1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pic>
        <p:nvPicPr>
          <p:cNvPr id="3" name="page 13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930493" y="4430486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94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17815" y="2764427"/>
            <a:ext cx="9960864" cy="1143000"/>
          </a:xfrm>
        </p:spPr>
        <p:txBody>
          <a:bodyPr>
            <a:normAutofit/>
          </a:bodyPr>
          <a:lstStyle/>
          <a:p>
            <a:pPr algn="ctr"/>
            <a:r>
              <a:rPr lang="en-IN" sz="6000" b="1" i="1" u="sng" dirty="0" smtClean="0">
                <a:solidFill>
                  <a:srgbClr val="00B0F0"/>
                </a:solidFill>
                <a:latin typeface="Arial Narrow" panose="020B0606020202030204" pitchFamily="34" charset="0"/>
              </a:rPr>
              <a:t>Thank You</a:t>
            </a:r>
            <a:endParaRPr lang="en-IN" sz="6000" b="1" i="1" u="sng" dirty="0">
              <a:solidFill>
                <a:srgbClr val="00B0F0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14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64679" y="4201886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4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597</TotalTime>
  <Words>385</Words>
  <Application>Microsoft Office PowerPoint</Application>
  <PresentationFormat>Custom</PresentationFormat>
  <Paragraphs>41</Paragraphs>
  <Slides>14</Slides>
  <Notes>0</Notes>
  <HiddenSlides>0</HiddenSlides>
  <MMClips>23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Technic</vt:lpstr>
      <vt:lpstr>Capstone Project </vt:lpstr>
      <vt:lpstr>PowerPoint Presentation</vt:lpstr>
      <vt:lpstr>Expectations:-</vt:lpstr>
      <vt:lpstr>In Pandemic All Stocks Fall Down Except “AMZN Stock” And “GOOG Stock” Of Technology</vt:lpstr>
      <vt:lpstr>Aviation Stocks</vt:lpstr>
      <vt:lpstr> Comparison of All Stock of Finance.  In Pandemic time every Stock fall down, but 'MS Stock' and 'WFC Stock' still manage to remain Positive. </vt:lpstr>
      <vt:lpstr>Comparison of all Stocks of Healthcare.  In pandemic  Healthcare sector not much effected in comparison to other sector. we have seen positive change. </vt:lpstr>
      <vt:lpstr>Comparison of Pharmaceutical Stocks.  In Pandemic  huge down fall in "BHC Stock", but on the other hand we have seen positive change in "RHHBY Stock". </vt:lpstr>
      <vt:lpstr> Comparison of all Stock of Technology.  In Pandemic situation "GOOG_Stock" and "AMZN_Stock" are showing positive change, but rest of all stock showing constant.</vt:lpstr>
      <vt:lpstr>Comparison of All stocks of Industries.  Positive growth in Technology Sector . In pandemic fall in every stocks. except "GOOGLE" and "Amazon" . ​ </vt:lpstr>
      <vt:lpstr>After Analysis, stocks  which are showing Positive Annualized Returns.</vt:lpstr>
      <vt:lpstr>Mr. Patrick wants to Double his  money  with Minimum Risk. So, we choosed "JNJ_Stock" and "MRK_stock" , "GOOG_Stock" and "UNH_Stock”.</vt:lpstr>
      <vt:lpstr>Mr. Peter wants Maximum Return on his Money and willing to take risk , so we  chooses "AMZN_Stocks" and "MFST_Stock" for Mr. Peter Jyenger.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</dc:title>
  <dc:creator>AMRENDRA</dc:creator>
  <cp:lastModifiedBy>Windows User</cp:lastModifiedBy>
  <cp:revision>57</cp:revision>
  <dcterms:created xsi:type="dcterms:W3CDTF">2021-12-26T20:13:53Z</dcterms:created>
  <dcterms:modified xsi:type="dcterms:W3CDTF">2021-12-27T13:36:27Z</dcterms:modified>
</cp:coreProperties>
</file>